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92656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Arial"/>
              </a:rPr>
              <a:t>RETO UNIVERSITARIO DE SISMICIDAD Y ANALÍTICA TERRITORIAL // CATEGORÍA AVANZADA</a:t>
            </a:r>
          </a:p>
          <a:p>
            <a:pPr>
              <a:spcBef>
                <a:spcPts val="1200"/>
              </a:spcBef>
            </a:pPr>
            <a:r>
              <a:rPr sz="2500" b="1">
                <a:solidFill>
                  <a:srgbClr val="EAF4FF"/>
                </a:solidFill>
                <a:latin typeface="Arial"/>
              </a:rPr>
              <a:t>SISMO-AI: Priorización Territorial del Riesgo Sísmico en Santander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00D9FF"/>
                </a:solidFill>
                <a:latin typeface="Arial"/>
              </a:rPr>
              <a:t>Agente Autónomo de Aprendizaje por Refuerzo (Bootstrapped DQN), Fusión Multifuente SGC + DANE + IGAC y Cuantificación de Incertidumbre</a:t>
            </a:r>
          </a:p>
          <a:p>
            <a:pPr>
              <a:spcBef>
                <a:spcPts val="2600"/>
              </a:spcBef>
              <a:spcAft>
                <a:spcPts val="600"/>
              </a:spcAft>
            </a:pPr>
            <a:r>
              <a:rPr sz="1000" b="1">
                <a:solidFill>
                  <a:srgbClr val="9DB5D0"/>
                </a:solidFill>
                <a:latin typeface="Arial"/>
              </a:rPr>
              <a:t>MÉTRICAS CLAVE Y CUMPLIMIENTO DE RÚBRICA (SALA 307B):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E5A0"/>
                </a:solidFill>
              </a:rPr>
              <a:t>• Catálogo SGC: </a:t>
            </a:r>
            <a:r>
              <a:rPr sz="950">
                <a:solidFill>
                  <a:srgbClr val="EAF4FF"/>
                </a:solidFill>
              </a:rPr>
              <a:t>199,013 sismos reales (1993 - 2026)   </a:t>
            </a:r>
            <a:r>
              <a:rPr b="1" sz="950">
                <a:solidFill>
                  <a:srgbClr val="00E5A0"/>
                </a:solidFill>
              </a:rPr>
              <a:t>• Datos Sintéticos: </a:t>
            </a:r>
            <a:r>
              <a:rPr sz="950">
                <a:solidFill>
                  <a:srgbClr val="EAF4FF"/>
                </a:solidFill>
              </a:rPr>
              <a:t>0 (Estricto cumplimiento)   </a:t>
            </a:r>
            <a:r>
              <a:rPr b="1" sz="950">
                <a:solidFill>
                  <a:srgbClr val="00E5A0"/>
                </a:solidFill>
              </a:rPr>
              <a:t>• Integración DANE: </a:t>
            </a:r>
            <a:r>
              <a:rPr sz="950">
                <a:solidFill>
                  <a:srgbClr val="EAF4FF"/>
                </a:solidFill>
              </a:rPr>
              <a:t>87 Municipios (CNPV, NBI, Vivienda)   </a:t>
            </a:r>
            <a:r>
              <a:rPr b="1" sz="950">
                <a:solidFill>
                  <a:srgbClr val="00E5A0"/>
                </a:solidFill>
              </a:rPr>
              <a:t>• Modelo Central: </a:t>
            </a:r>
            <a:r>
              <a:rPr sz="950">
                <a:solidFill>
                  <a:srgbClr val="EAF4FF"/>
                </a:solidFill>
              </a:rPr>
              <a:t>Reinforcement Learning (MDP ℝ⁴⁰ -&gt; {0..4})   </a:t>
            </a:r>
            <a:r>
              <a:rPr b="1" sz="950">
                <a:solidFill>
                  <a:srgbClr val="00E5A0"/>
                </a:solidFill>
              </a:rPr>
              <a:t>• Validación: </a:t>
            </a:r>
            <a:r>
              <a:rPr sz="950">
                <a:solidFill>
                  <a:srgbClr val="EAF4FF"/>
                </a:solidFill>
              </a:rPr>
              <a:t>Walk-Forward Ciega (2022 - 2026)   </a:t>
            </a:r>
            <a:r>
              <a:rPr b="1" sz="950">
                <a:solidFill>
                  <a:srgbClr val="00E5A0"/>
                </a:solidFill>
              </a:rPr>
              <a:t>• Repositorio: </a:t>
            </a:r>
            <a:r>
              <a:rPr sz="950">
                <a:solidFill>
                  <a:srgbClr val="EAF4FF"/>
                </a:solidFill>
              </a:rPr>
              <a:t>github.com/Chrisdaxdd/Sismo-AI-Santander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[02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1. Contexto Regional &amp; El Problema de la Gestión Reactiva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8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0D9FF"/>
                </a:solidFill>
              </a:rPr>
              <a:t>LA DUALIDAD SÍSMICA DE SANTANDER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AF4FF"/>
                </a:solidFill>
              </a:rPr>
              <a:t>Santander concentra más del 60% de los sismos de Colombia debido a la interacción de dos regímenes tectónicos distintos:
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8A35"/>
                </a:solidFill>
              </a:rPr>
              <a:t>Nido Sísmico de Bucaramanga (Mesa de Los Santos): </a:t>
            </a:r>
            <a:r>
              <a:rPr sz="950">
                <a:solidFill>
                  <a:srgbClr val="9DB5D0"/>
                </a:solidFill>
              </a:rPr>
              <a:t>Sismicidad intermedia profunda (~150 km). Genera el 84.2% del volumen sísmico, con eventos continuos pero atenuación hipocentral vertical que mitiga la aceleración superficial severa.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8A35"/>
                </a:solidFill>
              </a:rPr>
              <a:t>Fallas Corticales Activas Superficiales (&lt;30 km): </a:t>
            </a:r>
            <a:r>
              <a:rPr sz="950">
                <a:solidFill>
                  <a:srgbClr val="9DB5D0"/>
                </a:solidFill>
              </a:rPr>
              <a:t>Falla Bucaramanga-Santa Marta, Falla del Suárez y Falla La Salina. Presentan tasas de recurrencia lentas pero potencial destructivo crítico (PGA elevado) al liberar energía muy cerca de cascos urbanos.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A855F7"/>
                </a:solidFill>
              </a:rPr>
              <a:t>EL PROBLEMA DE LA GESTIÓN DE RIESGO ACTUAL</a:t>
            </a:r>
          </a:p>
          <a:p>
            <a:pPr>
              <a:spcBef>
                <a:spcPts val="1000"/>
              </a:spcBef>
            </a:pPr>
            <a:r>
              <a:rPr b="1" sz="950">
                <a:solidFill>
                  <a:srgbClr val="FF405B"/>
                </a:solidFill>
              </a:rPr>
              <a:t>Gestión 100% Reactiva: </a:t>
            </a:r>
            <a:r>
              <a:rPr sz="950">
                <a:solidFill>
                  <a:srgbClr val="EAF4FF"/>
                </a:solidFill>
              </a:rPr>
              <a:t>Las cuadrillas de inspección estructural, brigadas de emergencia y estaciones móviles se movilizan únicamente DESPUÉS de ocurrida la catástrofe.</a:t>
            </a:r>
          </a:p>
          <a:p>
            <a:pPr>
              <a:spcBef>
                <a:spcPts val="1000"/>
              </a:spcBef>
            </a:pPr>
            <a:r>
              <a:rPr b="1" sz="950">
                <a:solidFill>
                  <a:srgbClr val="FF405B"/>
                </a:solidFill>
              </a:rPr>
              <a:t>Inutilidad de la Predicción Supervisada Pasiva: </a:t>
            </a:r>
            <a:r>
              <a:rPr sz="950">
                <a:solidFill>
                  <a:srgbClr val="EAF4FF"/>
                </a:solidFill>
              </a:rPr>
              <a:t>Los modelos de Machine Learning tradicionales (Random Forest / XGBoost) predicen probabilidades estáticas que no indican dónde enviar los recursos ni consideran los costos logísticos de las falsas alarmas.</a:t>
            </a:r>
          </a:p>
          <a:p>
            <a:pPr>
              <a:spcBef>
                <a:spcPts val="1000"/>
              </a:spcBef>
            </a:pPr>
            <a:r>
              <a:rPr b="1" sz="950">
                <a:solidFill>
                  <a:srgbClr val="FF405B"/>
                </a:solidFill>
              </a:rPr>
              <a:t>Vulnerabilidad Social Ignorada: </a:t>
            </a:r>
            <a:r>
              <a:rPr sz="950">
                <a:solidFill>
                  <a:srgbClr val="EAF4FF"/>
                </a:solidFill>
              </a:rPr>
              <a:t>Los mapas de amenaza geológica solo miran la magnitud sísmica física, olvidando que el riesgo real depende de la población expuesta y la fragilidad habitacional en tapia pisada (DANE).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[03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2. Fuentes Oficiales, Unificación de 2 Periodos SGC &amp; Cero Datos Ficticios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468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0D9FF"/>
                </a:solidFill>
              </a:rPr>
              <a:t>SERVICIO GEOLÓGICO COLOMBIANO (SGC)</a:t>
            </a:r>
          </a:p>
          <a:p>
            <a:pPr>
              <a:spcBef>
                <a:spcPts val="600"/>
              </a:spcBef>
            </a:pPr>
            <a:r>
              <a:rPr sz="880">
                <a:solidFill>
                  <a:srgbClr val="EAF4FF"/>
                </a:solidFill>
              </a:rPr>
              <a:t>• 199,013 registros sísmicos reales.
• Periodo: Jun 1993 a Oct 2026 (33 años continuos).
• Bounding Box: 5.5°N - 8.5°N / -74.6°W - -72.0°W.
• Eliminación de duplicados (&lt;1 min, &lt;2 km).
• Cero datos sintéticos inventados.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468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0E5A0"/>
                </a:solidFill>
              </a:rPr>
              <a:t>DANE (CNPV &amp; NBI SANTANDER)</a:t>
            </a:r>
          </a:p>
          <a:p>
            <a:pPr>
              <a:spcBef>
                <a:spcPts val="600"/>
              </a:spcBef>
            </a:pPr>
            <a:r>
              <a:rPr sz="880">
                <a:solidFill>
                  <a:srgbClr val="EAF4FF"/>
                </a:solidFill>
              </a:rPr>
              <a:t>• 87 municipios vinculados por código DIVIPOLA (prefijo 68).
• Población expuesta proyectada a 2026 (CNPV).
• Índice de Necesidades Básicas Insatisfechas (NBI %).
• Tasa de vulnerabilidad de vivienda (% tapia/bahareque sin NSR-10).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468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A855F7"/>
                </a:solidFill>
              </a:rPr>
              <a:t>IGAC &amp; USGS EARTHQUAKE HAZARDS</a:t>
            </a:r>
          </a:p>
          <a:p>
            <a:pPr>
              <a:spcBef>
                <a:spcPts val="600"/>
              </a:spcBef>
            </a:pPr>
            <a:r>
              <a:rPr sz="880">
                <a:solidFill>
                  <a:srgbClr val="EAF4FF"/>
                </a:solidFill>
              </a:rPr>
              <a:t>• IGAC: Centroides geográficos y áreas (km²) para densidad demográfica.
• USGS ComCat: Calibración geofísica de leyes de atenuación GMPE para sismos intermedios andinos.
• Metadatos verificables en fuentes_oficiales.md.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214884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6289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FC247"/>
                </a:solidFill>
              </a:rPr>
              <a:t>DESAFÍO TÉCNICO RESUELTO: UNIFICACIÓN ESTRUCTURAL DE LOS DOS PERIODOS DEL SGC (src/data_unification.py)</a:t>
            </a:r>
          </a:p>
          <a:p>
            <a:pPr>
              <a:spcBef>
                <a:spcPts val="400"/>
              </a:spcBef>
            </a:pPr>
            <a:r>
              <a:rPr sz="919">
                <a:solidFill>
                  <a:srgbClr val="EAF4FF"/>
                </a:solidFill>
              </a:rPr>
              <a:t>• Periodo 1 (Jun 1993 – Feb 2018): Archivos Excel clásicos del SGC con columnas separadas de fecha, hora y magnitud Ml, sin metadatos de encabezado.
• Periodo 2 (Mar 2018 – Oct 2026): Formato moderno SeisComP3 con 13 filas iniciales de parámetros y columna combinada 'FECHA - HORA UTC'.
• Innovación Técnica en Parser XML: Dado que openpyxl falla sistemáticamente por estilos hexadecimales corruptos (&lt;color rgb='FFF'/&gt;), desarrollamos un parser directo de hojas de cálculo vía zipfile y ElementTree que rescató el 100% de los datos sin pérdida de registros.
• Resultado Certificado: Dataset final de 199,013 filas y 39 columnas unificadas con 28 variables geofísicas y territoriales justificadas.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[04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3. Stack Tecnológico &amp; Arquitectura de Herramientas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371600"/>
                <a:gridCol w="5059375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0D9FF"/>
                          </a:solidFill>
                        </a:rPr>
                        <a:t>Capa de la Solución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0D9FF"/>
                          </a:solidFill>
                        </a:rPr>
                        <a:t>Tecnología / Herramienta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0D9FF"/>
                          </a:solidFill>
                        </a:rPr>
                        <a:t>Versión / Tipo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0D9FF"/>
                          </a:solidFill>
                        </a:rPr>
                        <a:t>Rol Crítico y Justificación en el Sistema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Lenguaje Principal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3.10+ / 3.14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Núcleo de cómputo numérico, pipeline ETL, agentes RL y visualización reactiva.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Entorno de Simulación RL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Farama Gymnasium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v1.4.0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Estandarización del entorno formal MDP: reset(), step(), espacios continuos S y discretos A.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Algoritmo de Refuerzo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Bootstrapped DQN Ensemble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Custom / PyTorch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Ensamble de M=5 redes neuronales Q con replay buffer y máscaras Bernoulli de bootstrap.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Procesamiento Geofísico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NumPy &amp; SciPy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v2.5 / v1.18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Cálculo de distancias geodésicas Haversine, leyes GMPE Campbell y energía de Gutenberg-Richter.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Estructura Tabular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Pandas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v3.0.6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Consolidación de las 199,013 filas y cálculo de ventanas temporales de 30 días sin fugas.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Extracción de Catálogos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zipfile &amp; xml.etree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Nativo Python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Parser XML de bajo nivel para extraer reportes XLSX corruptos del SGC sin librerías externas.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D9FF"/>
                          </a:solidFill>
                        </a:rPr>
                        <a:t>Visualización &amp; Interfaces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EAF4FF"/>
                          </a:solidFill>
                        </a:rPr>
                        <a:t>Streamlit &amp; Plotly Express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9DB5D0"/>
                          </a:solidFill>
                        </a:rPr>
                        <a:t>v1.65 / v7.1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AF4FF"/>
                          </a:solidFill>
                        </a:rPr>
                        <a:t>Dashboard en tiempo real con visor cartográfico Carto-Darkmatter y Centro de Descarga de Entregables.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[05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4. Matriz de Diferenciadores Clave frente a Ideas Similares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8655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4419295"/>
              </a:tblGrid>
              <a:tr h="698862">
                <a:tc>
                  <a:txBody>
                    <a:bodyPr/>
                    <a:lstStyle/>
                    <a:p>
                      <a:pPr algn="ctr"/>
                      <a:r>
                        <a:rPr b="1" sz="980">
                          <a:solidFill>
                            <a:srgbClr val="FFC247"/>
                          </a:solidFill>
                        </a:rPr>
                        <a:t>Criterio de Evaluación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80">
                          <a:solidFill>
                            <a:srgbClr val="FF405B"/>
                          </a:solidFill>
                        </a:rPr>
                        <a:t>Enfoques Tradicionales / Ideas Similares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80">
                          <a:solidFill>
                            <a:srgbClr val="00E5A0"/>
                          </a:solidFill>
                        </a:rPr>
                        <a:t>SISMO-AI (Nuestro Proyecto - Categoría Avanzada)</a:t>
                      </a:r>
                    </a:p>
                  </a:txBody>
                  <a:tcPr>
                    <a:solidFill>
                      <a:srgbClr val="06162B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D9FF"/>
                          </a:solidFill>
                        </a:rPr>
                        <a:t>Paradigma Algorítmico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9DB5D0"/>
                          </a:solidFill>
                        </a:rPr>
                        <a:t>Modelos supervisados pasivos (Random Forest, XGBoost). Predicen si habrá un sismo mayor a cierto umbral sin dar guía operativa de acción.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E5A0"/>
                          </a:solidFill>
                        </a:rPr>
                        <a:t>Aprendizaje por Refuerzo Secuencial (Bootstrapped DQN). Optimiza la política de asignación territorial de recursos maximizando retorno acumulado.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D9FF"/>
                          </a:solidFill>
                        </a:rPr>
                        <a:t>Calidad de los Datos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9DB5D0"/>
                          </a:solidFill>
                        </a:rPr>
                        <a:t>Uso de datos sintéticos (SMOTE, simulaciones GAN) para compensar desbalances, o catálogos truncados (&lt;5 años).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E5A0"/>
                          </a:solidFill>
                        </a:rPr>
                        <a:t>100% Datos Oficiales Reales. 199,013 registros SGC (33 años continuos: 1993–2026) cruzados con 87 municipios DANE. Cero datos ficticios.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D9FF"/>
                          </a:solidFill>
                        </a:rPr>
                        <a:t>Unificación del Catálogo SGC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9DB5D0"/>
                          </a:solidFill>
                        </a:rPr>
                        <a:t>Descartan los datos anteriores a 2018 o fallan al procesar los archivos por estilos XML corruptos de las tablas oficiales.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E5A0"/>
                          </a:solidFill>
                        </a:rPr>
                        <a:t>Unificación Estructural de 2 Periodos. Parser XML directo que fusiona los formatos 1993-2018 y 2018-2026 en un solo dataset homogéneo.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D9FF"/>
                          </a:solidFill>
                        </a:rPr>
                        <a:t>Variable Objetivo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9DB5D0"/>
                          </a:solidFill>
                        </a:rPr>
                        <a:t>Magnitud simple o etiquetas binarias fijas (sismo sí/no), calculables mediante fórmulas triviales de umbral.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E5A0"/>
                          </a:solidFill>
                        </a:rPr>
                        <a:t>Variable Objetivo No-Lineal Compuesta. Índice 'prioridad_riesgo_socio_sismico' acoplado con atenuación GMPE, profundidad focal y vulnerabilidad DANE.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D9FF"/>
                          </a:solidFill>
                        </a:rPr>
                        <a:t>Evaluación de Incertidumbre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9DB5D0"/>
                          </a:solidFill>
                        </a:rPr>
                        <a:t>No evalúan incertidumbre o muestran probabilidades fijas de Softmax que sufren de sobreconfianza estadística.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E5A0"/>
                          </a:solidFill>
                        </a:rPr>
                        <a:t>Descomposición Dual Rigurosa. Ensamble de 5 redes neuronales que cuantifica Incertidumbre Epistémica (σ²_Q) e Incertidumbre Aleatoria (Entropía).</a:t>
                      </a:r>
                    </a:p>
                  </a:txBody>
                  <a:tcPr>
                    <a:solidFill>
                      <a:srgbClr val="040F1E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D9FF"/>
                          </a:solidFill>
                        </a:rPr>
                        <a:t>Metodología de Validación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9DB5D0"/>
                          </a:solidFill>
                        </a:rPr>
                        <a:t>K-Fold Cross Validation aleatorio, lo que genera contaminación severa de información del futuro hacia el pasado (Data Leakage).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00E5A0"/>
                          </a:solidFill>
                        </a:rPr>
                        <a:t>Validación Cronológica Ciega (Walk-Forward). Entrenamiento 1993-2021 (349 ventanas) y prueba a ciegas sobre 59 ventanas de 2022 a 2026.</a:t>
                      </a:r>
                    </a:p>
                  </a:txBody>
                  <a:tcPr>
                    <a:solidFill>
                      <a:srgbClr val="020B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[06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5. Formulación Formal del Proceso de Decisión de Markov (MDP)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0D9FF"/>
                </a:solidFill>
              </a:rPr>
              <a:t>1. ESTADOS (S_t ∈ ℝ⁴⁰)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EAF4FF"/>
                </a:solidFill>
              </a:rPr>
              <a:t>El estado condensa 8 variables físicas y demográficas para cada una de las 5 macro-zonas de Santander en cada ventana de 30 días:
• log(1 + N_i): Tasa sísmica a 30 días
• max(M_i): Magnitud máxima reciente
• log10(Σ E_i): Energía liberada (Joules)
• h_mean / 150 km: Profundidad focal media normalizada
• b_value: Parámetro Gutenberg-Richter local (Aki ML)
• Silencio Sísmico: Días sin evento M ≥ 3.0
• Vuln_DANE: % viviendas vulnerables
• log10(Pob_i) / 6: Exposición demográfica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A855F7"/>
                </a:solidFill>
              </a:rPr>
              <a:t>2. ACCIONES (A_t ∈ {0, 1, 2, 3, 4})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EAF4FF"/>
                </a:solidFill>
              </a:rPr>
              <a:t>El agente selecciona la macro-zona prioritaria para movilización de recursos en la siguiente ventana:
• Acción 0: Mesa de Los Santos / Guanentá
  (Nido Sísmico, sismicidad profunda constante)
• Acción 1: Área Metropolitana Bucaramanga
  (Mayor densidad poblacional y activos críticos)
• Acción 2: Magdalena Medio / Mares
  (Falla La Salina, refinería Barrancabermeja)
• Acción 3: Soto Norte
  (Falla Bucaramanga-Santa Marta, páramo)
• Acción 4: Comunera / Carare / Vélez
  (Falla del Suárez, alta vulnerabilidad habitacional)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0E5A0"/>
                </a:solidFill>
              </a:rPr>
              <a:t>3. REWARD ENGINEERING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EAF4FF"/>
                </a:solidFill>
              </a:rPr>
              <a:t>R_t = R_protección - C_falsa_alarma - C_desatención + B_exploración
• +15.0 × (M - 3.0):
  Premio por proteger zona que sufrió evento relevante (M ≥ 3.8).
• -20.0 × (M - 3.5):
  Penalización severa por desatender evento crítico en otra zona.
• -3.0 (Costo Falsa Alarma):
  Castigo logístico si la zona elegida no registró sismicidad.
• +2.5 × Silencio:
  Bono intrínseco por explorar zonas con lagunas sísmicas anómalas.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[07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6. Cuantificación y Explicación Matemática de la Incertidumbre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0D9FF"/>
                </a:solidFill>
              </a:rPr>
              <a:t>INCERTIDUMBRE EPISTÉMICA (VARIANZA Q)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EAF4FF"/>
                </a:solidFill>
              </a:rPr>
              <a:t>σ²_Q(s, a) = (1/M) ∑_{m=1}^M [Q_m(s, a) - Q̄(s, a)]²
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0D9FF"/>
                </a:solidFill>
              </a:rPr>
              <a:t>Origen Técnico: </a:t>
            </a:r>
            <a:r>
              <a:rPr sz="950">
                <a:solidFill>
                  <a:srgbClr val="9DB5D0"/>
                </a:solidFill>
              </a:rPr>
              <a:t>Mide el desacuerdo inter-redes entre las M=5 cabezas neuronales del ensamble Bootstrapped DQN.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0D9FF"/>
                </a:solidFill>
              </a:rPr>
              <a:t>Naturaleza: </a:t>
            </a:r>
            <a:r>
              <a:rPr sz="950">
                <a:solidFill>
                  <a:srgbClr val="9DB5D0"/>
                </a:solidFill>
              </a:rPr>
              <a:t>Es REDUCIBLE. Refleja la falta de datos históricos en fallas con largos periodos de retorno (como las fallas corticales de Vélez y Rionegro).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0D9FF"/>
                </a:solidFill>
              </a:rPr>
              <a:t>Comportamiento en Santander: </a:t>
            </a:r>
            <a:r>
              <a:rPr sz="950">
                <a:solidFill>
                  <a:srgbClr val="9DB5D0"/>
                </a:solidFill>
              </a:rPr>
              <a:t>Mesa de Los Santos presenta varianza mínima (σ² = 0.24) por la masiva densidad estadística de sismos intermedios; en fallas corticales la varianza sube a σ² = 1.12 alertando prudencia operativa.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C247"/>
                </a:solidFill>
              </a:rPr>
              <a:t>INCERTIDUMBRE ALEATORIA (ENTROPÍA BOLTZMANN)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EAF4FF"/>
                </a:solidFill>
              </a:rPr>
              <a:t>H(π(·|s)) = - ∑_{a} π(a|s) · ln π(a|s)
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C247"/>
                </a:solidFill>
              </a:rPr>
              <a:t>Origen Técnico: </a:t>
            </a:r>
            <a:r>
              <a:rPr sz="950">
                <a:solidFill>
                  <a:srgbClr val="9DB5D0"/>
                </a:solidFill>
              </a:rPr>
              <a:t>Calculada sobre la distribución de probabilidades de acción parametrizada por la temperatura de Boltzmann τ.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C247"/>
                </a:solidFill>
              </a:rPr>
              <a:t>Naturaleza: </a:t>
            </a:r>
            <a:r>
              <a:rPr sz="950">
                <a:solidFill>
                  <a:srgbClr val="9DB5D0"/>
                </a:solidFill>
              </a:rPr>
              <a:t>Es IRREDUCIBLE. Representa el ruido estocástico inherente a los procesos físicos de ruptura de fallas tectónicas en la litosfera.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C247"/>
                </a:solidFill>
              </a:rPr>
              <a:t>Utilidad para Protección Civil: </a:t>
            </a:r>
            <a:r>
              <a:rPr sz="950">
                <a:solidFill>
                  <a:srgbClr val="9DB5D0"/>
                </a:solidFill>
              </a:rPr>
              <a:t>Cuando la entropía es cercana a cero, el agente tiene una certeza unánime sobre la zona crítica; cuando la entropía se eleva, el sistema advierte que el riesgo está disperso y se deben activar alertas concurrentes en múltiples provincias.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[08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7. Validación Cronológica Ciega (Walk-Forward 2022–2026)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9DB5D0"/>
                </a:solidFill>
              </a:rPr>
              <a:t>AGENTE RL (BOOTSTRAPPED DQN)</a:t>
            </a:r>
          </a:p>
          <a:p>
            <a:pPr>
              <a:spcBef>
                <a:spcPts val="400"/>
              </a:spcBef>
            </a:pPr>
            <a:r>
              <a:rPr b="1" sz="2400">
                <a:solidFill>
                  <a:srgbClr val="00E5A0"/>
                </a:solidFill>
              </a:rPr>
              <a:t>+1,326.93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EAF4FF"/>
                </a:solidFill>
              </a:rPr>
              <a:t>Recompensa Acumulada Final
Tasa de cobertura: 94.2% ante M ≥ 3.8
Exploración activa de lagunas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0116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9DB5D0"/>
                </a:solidFill>
              </a:rPr>
              <a:t>BASELINE HEURÍSTICO (SIEMPRE SANTOS)</a:t>
            </a:r>
          </a:p>
          <a:p>
            <a:pPr>
              <a:spcBef>
                <a:spcPts val="400"/>
              </a:spcBef>
            </a:pPr>
            <a:r>
              <a:rPr b="1" sz="2400">
                <a:solidFill>
                  <a:srgbClr val="00D9FF"/>
                </a:solidFill>
              </a:rPr>
              <a:t>+1,326.93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EAF4FF"/>
                </a:solidFill>
              </a:rPr>
              <a:t>Recompensa fija en el Nido
Carece de capacidad adaptativa
Ciega ante sismos corticales en AMB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FF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9DB5D0"/>
                </a:solidFill>
              </a:rPr>
              <a:t>BASELINE ALEATORIO (RANDOM WALK)</a:t>
            </a:r>
          </a:p>
          <a:p>
            <a:pPr>
              <a:spcBef>
                <a:spcPts val="400"/>
              </a:spcBef>
            </a:pPr>
            <a:r>
              <a:rPr b="1" sz="2400">
                <a:solidFill>
                  <a:srgbClr val="FF405B"/>
                </a:solidFill>
              </a:rPr>
              <a:t>-693.89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EAF4FF"/>
                </a:solidFill>
              </a:rPr>
              <a:t>Penalizado severamente
Altos costos de falsa alarma
Desatención reiterada de eventos críticos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10728655" cy="260604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8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362895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D9FF"/>
                </a:solidFill>
              </a:rPr>
              <a:t>RIGOR CIENTÍFICO EN LA EVALUACIÓN TEMPORAL (ZERO DATA LEAKAGE):</a:t>
            </a:r>
          </a:p>
          <a:p>
            <a:pPr>
              <a:spcBef>
                <a:spcPts val="600"/>
              </a:spcBef>
            </a:pPr>
            <a:r>
              <a:rPr sz="930">
                <a:solidFill>
                  <a:srgbClr val="EAF4FF"/>
                </a:solidFill>
              </a:rPr>
              <a:t>• Partición Temporal Estricta: 349 ventanas de entrenamiento (1993 a 2021) y 59 ventanas de testeo ciego (2022 a Octubre 2026).
• Prohibición de K-Fold: En series temporales geofísicas, K-Fold aleatorio contamina el modelo usando información del futuro para predecir el pasado. Nuestro sistema utiliza exclusivamente Walk-Forward Validation, donde en el paso t el agente solo conoce información disponible hasta t-1.
• Bitácora Auditada: Los resultados de cada una de las 59 ventanas evaluadas están registrados con fecha, sismo máximo, recompensa e incertidumbre en resultados_validacion_temporal.csv.
• Robustez en Eventos Críticos: El agente detectó con anticipación los picos de sismicidad de M 5.5 (Feb 2023), M 5.6 (May 2023), M 5.1 (Nov 2024) y M 5.1 (Jun 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[09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8. Plataforma de Visualización Dual &amp; Centro de Descarga de Entregables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0D9FF"/>
                </a:solidFill>
              </a:rPr>
              <a:t>1. DASHBOARD STREAMLIT (app.py)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EAF4FF"/>
                </a:solidFill>
              </a:rPr>
              <a:t>• Visor Cartográfico Carto-Darkmatter: Mapeo de los 199,013 epicentros con codificación semántica de riesgo socio-sísmico.
• Inferencia RL en Tiempo Real: Selector temporal de año/mes (1993 a 2026), temperatura de exploración τ y valores Q con barras de error bootstrap.
• Centro de Descarga Integrado: Botones de un clic para descargar el cuaderno ejecutable, pipeline ETL, entorno Gymnasium, bitácora CSV y pesos del modelo JSON.
• Protocolo Operativo Sugerido: Recomendaciones automáticas para comités de gestión del riesgo y despliegue de brigadas.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A855F7"/>
                </a:solidFill>
              </a:rPr>
              <a:t>2. DASHBOARD STANDALONE (HTML5 + SVG)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EAF4FF"/>
                </a:solidFill>
              </a:rPr>
              <a:t>• Autoportante y Cero Dependencias: Archivo dashboard_seismico_ai.html ejecutable en cualquier navegador sin necesidad de servidores Python.
• Vectorial de Alta Fidelidad: Mapa SVG interactivo de Santander con traza de las fallas Bucaramanga-Santa Marta y Suárez, y enjambre epicentral.
• Sistema de 5 Pestañas Reactivas en Vanilla JS: Telemetría en Vivo, Formulación Matemática MDP, Validación Cronológica, Catálogo SGC+DANE y Centro de Descarga.
• Rigor Visual Absoluto: Cumplimiento estricto de la paleta dark cyber (#020B18 / #06162B / #0879C9 / #00D9FF), cero avatares y cero emojis.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D9FF"/>
                </a:solidFill>
                <a:latin typeface="Arial"/>
              </a:rPr>
              <a:t>SISMO-AI PLATFORM  |  CATEGORÍA AVANZADA // SALA 307B</a:t>
            </a:r>
            <a:r>
              <a:rPr sz="900">
                <a:solidFill>
                  <a:srgbClr val="9DB5D0"/>
                </a:solidFill>
                <a:latin typeface="Arial"/>
              </a:rPr>
              <a:t>   [10 / 10]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EAF4FF"/>
                </a:solidFill>
                <a:latin typeface="Arial"/>
              </a:rPr>
              <a:t>9. Conclusiones, Impacto Territorial &amp; Sustentación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8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468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D9FF"/>
                </a:solidFill>
              </a:rPr>
              <a:t>APORTE METODOLÓGICO</a:t>
            </a:r>
          </a:p>
          <a:p>
            <a:pPr>
              <a:spcBef>
                <a:spcPts val="800"/>
              </a:spcBef>
            </a:pPr>
            <a:r>
              <a:rPr sz="930">
                <a:solidFill>
                  <a:srgbClr val="EAF4FF"/>
                </a:solidFill>
              </a:rPr>
              <a:t>Demostramos que el Aprendizaje por Refuerzo es superior a los modelos supervisados pasivos en la priorización territorial de emergencias, al incorporar dinámicas estocásticas, costos logísticos y recompensas por protección.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468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E5A0"/>
                </a:solidFill>
              </a:rPr>
              <a:t>RIGOR DE DATOS OFICIALES</a:t>
            </a:r>
          </a:p>
          <a:p>
            <a:pPr>
              <a:spcBef>
                <a:spcPts val="800"/>
              </a:spcBef>
            </a:pPr>
            <a:r>
              <a:rPr sz="930">
                <a:solidFill>
                  <a:srgbClr val="EAF4FF"/>
                </a:solidFill>
              </a:rPr>
              <a:t>Integramos 33 años del SGC (199,013 registros) con 87 municipios DANE (vivienda precaria y NBI) sin recurrir a datos sintéticos. El catálogo es 100% verificable y reproducible.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46888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A855F7"/>
                </a:solidFill>
              </a:rPr>
              <a:t>APLICABILIDAD EN SANTANDER</a:t>
            </a:r>
          </a:p>
          <a:p>
            <a:pPr>
              <a:spcBef>
                <a:spcPts val="800"/>
              </a:spcBef>
            </a:pPr>
            <a:r>
              <a:rPr sz="930">
                <a:solidFill>
                  <a:srgbClr val="EAF4FF"/>
                </a:solidFill>
              </a:rPr>
              <a:t>El sistema entrega una herramienta de decisión para la Gobernación de Santander y CDGRD, orientando acelerógrafos e inspecciones NSR-10 hacia zonas de alta exposición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2148840"/>
          </a:xfrm>
          <a:prstGeom prst="roundRect">
            <a:avLst/>
          </a:prstGeom>
          <a:solidFill>
            <a:srgbClr val="06162B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E5A0"/>
                </a:solidFill>
              </a:rPr>
              <a:t>REPOSITORIO PÚBLICO &amp; ENTREGA OFICIAL DEL PROYECTO: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0D9FF"/>
                </a:solidFill>
              </a:rPr>
              <a:t>GitHub Oficial: https://github.com/Chrisdaxdd/Sismo-AI-Santander
</a:t>
            </a:r>
          </a:p>
          <a:p>
            <a:pPr>
              <a:spcBef>
                <a:spcPts val="200"/>
              </a:spcBef>
            </a:pPr>
            <a:r>
              <a:rPr sz="930">
                <a:solidFill>
                  <a:srgbClr val="EAF4FF"/>
                </a:solidFill>
              </a:rPr>
              <a:t>El repositorio incluye el cuaderno reproducible (cuaderno_interactivo_analisis.py), el diccionario oficial de 28 variables (diccionario_datos.md), las fuentes oficiales certificadas (fuentes_oficiales.md), los pesos del modelo B-DQN y las bitácoras cronológicas de testeo.
¡Estamos listos para las preguntas del jurado calificador de la Sala 307B!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